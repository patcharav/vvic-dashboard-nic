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visits</c:v>
                </c:pt>
              </c:strCache>
            </c:strRef>
          </c:tx>
          <c:spPr>
            <a:solidFill>
              <a:srgbClr val="3C6E5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0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C6E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C6E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C6E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04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C6E5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C6E5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55-64</c:v>
                  </c:pt>
                  <c:pt idx="5">
                    <c:v>65+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19</c:v>
                </c:pt>
                <c:pt idx="2">
                  <c:v>21</c:v>
                </c:pt>
                <c:pt idx="3">
                  <c:v>28</c:v>
                </c:pt>
                <c:pt idx="4">
                  <c:v>17</c:v>
                </c:pt>
                <c:pt idx="5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520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520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Golf Equipment</c:v>
                </c:pt>
              </c:strCache>
            </c:strRef>
          </c:tx>
          <c:spPr>
            <a:solidFill>
              <a:srgbClr val="3C6E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FY2024 (restated)</c:v>
                  </c:pt>
                  <c:pt idx="1">
                    <c:v>FY2025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1382.7</c:v>
                </c:pt>
                <c:pt idx="1">
                  <c:v>1375.1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Apparel, Gear &amp; Other</c:v>
                </c:pt>
              </c:strCache>
            </c:strRef>
          </c:tx>
          <c:spPr>
            <a:solidFill>
              <a:srgbClr val="1520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FY2024 (restated)</c:v>
                  </c:pt>
                  <c:pt idx="1">
                    <c:v>FY2025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695</c:v>
                </c:pt>
                <c:pt idx="1">
                  <c:v>685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520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EDA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B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5202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32004" cy="32004"/>
          </a:xfrm>
          <a:prstGeom prst="ellipse">
            <a:avLst/>
          </a:prstGeom>
          <a:solidFill>
            <a:srgbClr val="8FBBA1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822960"/>
            <a:ext cx="32004" cy="32004"/>
          </a:xfrm>
          <a:prstGeom prst="ellipse">
            <a:avLst/>
          </a:prstGeom>
          <a:solidFill>
            <a:srgbClr val="8FBBA1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960120"/>
            <a:ext cx="32004" cy="32004"/>
          </a:xfrm>
          <a:prstGeom prst="ellipse">
            <a:avLst/>
          </a:prstGeom>
          <a:solidFill>
            <a:srgbClr val="8FBBA1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502920"/>
            <a:ext cx="32004" cy="32004"/>
          </a:xfrm>
          <a:prstGeom prst="ellipse">
            <a:avLst/>
          </a:prstGeom>
          <a:solidFill>
            <a:srgbClr val="8FBBA1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0" y="411480"/>
            <a:ext cx="32004" cy="32004"/>
          </a:xfrm>
          <a:prstGeom prst="ellipse">
            <a:avLst/>
          </a:prstGeom>
          <a:solidFill>
            <a:srgbClr val="8FBBA1"/>
          </a:solidFill>
          <a:ln/>
        </p:spPr>
      </p:sp>
      <p:sp>
        <p:nvSpPr>
          <p:cNvPr id="7" name="Shape 5"/>
          <p:cNvSpPr/>
          <p:nvPr/>
        </p:nvSpPr>
        <p:spPr>
          <a:xfrm>
            <a:off x="10561320" y="1051560"/>
            <a:ext cx="32004" cy="32004"/>
          </a:xfrm>
          <a:prstGeom prst="ellipse">
            <a:avLst/>
          </a:prstGeom>
          <a:solidFill>
            <a:srgbClr val="8FBBA1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0" y="777240"/>
            <a:ext cx="32004" cy="32004"/>
          </a:xfrm>
          <a:prstGeom prst="ellipse">
            <a:avLst/>
          </a:prstGeom>
          <a:solidFill>
            <a:srgbClr val="8FBBA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94360"/>
            <a:ext cx="566928" cy="566928"/>
          </a:xfrm>
          <a:prstGeom prst="ellipse">
            <a:avLst/>
          </a:prstGeom>
          <a:solidFill>
            <a:srgbClr val="152023"/>
          </a:solidFill>
          <a:ln w="15875">
            <a:solidFill>
              <a:srgbClr val="8FBB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658368"/>
            <a:ext cx="64008" cy="64008"/>
          </a:xfrm>
          <a:prstGeom prst="ellipse">
            <a:avLst/>
          </a:prstGeom>
          <a:solidFill>
            <a:srgbClr val="D9704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94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BBA1"/>
                </a:solidFill>
              </a:rPr>
              <a:t>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658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DNA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8961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travis</a:t>
            </a:r>
            <a:pPr indent="0" marL="0">
              <a:buNone/>
            </a:pPr>
            <a:r>
              <a:rPr lang="en-US" sz="2400" b="1" i="1" dirty="0">
                <a:solidFill>
                  <a:srgbClr val="8FBB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Mathew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8FBBA1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16" name="Text 14"/>
          <p:cNvSpPr/>
          <p:nvPr/>
        </p:nvSpPr>
        <p:spPr>
          <a:xfrm>
            <a:off x="822960" y="214884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Inspired by </a:t>
            </a:r>
            <a:pPr indent="0" marL="0">
              <a:lnSpc>
                <a:spcPct val="135000"/>
              </a:lnSpc>
              <a:buNone/>
            </a:pPr>
            <a:r>
              <a:rPr lang="en-US" sz="2500" i="1" dirty="0">
                <a:solidFill>
                  <a:srgbClr val="8FBB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Southern California's laidback yet active lifestyle</a:t>
            </a:r>
            <a:pPr indent="0" marL="0">
              <a:lnSpc>
                <a:spcPct val="135000"/>
              </a:lnSpc>
              <a:buNone/>
            </a:pPr>
            <a:r>
              <a:rPr lang="en-US" sz="2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each design leaves you confident, comfortable, and capable — fitting in while standing out. Everyday apparel crafted to achieve the perfect balance between </a:t>
            </a:r>
            <a:pPr indent="0" marL="0">
              <a:lnSpc>
                <a:spcPct val="135000"/>
              </a:lnSpc>
              <a:buNone/>
            </a:pPr>
            <a:r>
              <a:rPr lang="en-US" sz="2500" i="1" dirty="0">
                <a:solidFill>
                  <a:srgbClr val="8FBB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innovative design and superior style</a:t>
            </a:r>
            <a:pPr indent="0" marL="0">
              <a:lnSpc>
                <a:spcPct val="135000"/>
              </a:lnSpc>
              <a:buNone/>
            </a:pPr>
            <a:r>
              <a:rPr lang="en-US" sz="2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For any and every activity.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0749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000" dirty="0">
                <a:solidFill>
                  <a:srgbClr val="DED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LAIDBACK, NOT SLOPPY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06624" y="5074920"/>
            <a:ext cx="2248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000" dirty="0">
                <a:solidFill>
                  <a:srgbClr val="DED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PERFORMANCE, NOT FLASHY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92294" y="5074920"/>
            <a:ext cx="26279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000" dirty="0">
                <a:solidFill>
                  <a:srgbClr val="DED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COURSE-TO-STREET VERSATILITY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57439" y="5074920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000" dirty="0">
                <a:solidFill>
                  <a:srgbClr val="DED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SOCAL ORIGIN, 2007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ED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B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BRIEF — 02 / GOLF &amp; ACTIVE LIFESTYLE APPAREL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/ MARKET INTEL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on the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8FBB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TravisMathew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back nine.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ED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 on the customer base, competitive set, and category economics behind TravisMathew — built for pitch prep across the NYTG fabric portfolio.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55280" y="3931920"/>
            <a:ext cx="3657600" cy="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95528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ED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VISITORS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784080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BB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78408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ED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 VISITORS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SIMILARWEB,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category, in five numbers.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EDACB"/>
            </a:solidFill>
            <a:prstDash val="solid"/>
          </a:ln>
          <a:effectLst>
            <a:outerShdw sx="100000" sy="100000" kx="0" ky="0" algn="bl" rotWithShape="0" blurRad="101600" dist="38100" dir="5400000">
              <a:srgbClr val="15202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240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35–54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AGE RANGE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98064" y="192024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EDACB"/>
            </a:solidFill>
            <a:prstDash val="solid"/>
          </a:ln>
          <a:effectLst>
            <a:outerShdw sx="100000" sy="100000" kx="0" ky="0" algn="bl" rotWithShape="0" blurRad="101600" dist="38100" dir="5400000">
              <a:srgbClr val="15202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35224" y="2240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 US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35224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TRAFFIC MARKET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47488" y="192024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EDACB"/>
            </a:solidFill>
            <a:prstDash val="solid"/>
          </a:ln>
          <a:effectLst>
            <a:outerShdw sx="100000" sy="100000" kx="0" ky="0" algn="bl" rotWithShape="0" blurRad="101600" dist="38100" dir="5400000">
              <a:srgbClr val="15202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84648" y="2240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$89.95–119.95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184648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POLO PRICE BAND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296912" y="192024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EDACB"/>
            </a:solidFill>
            <a:prstDash val="solid"/>
          </a:ln>
          <a:effectLst>
            <a:outerShdw sx="100000" sy="100000" kx="0" ky="0" algn="bl" rotWithShape="0" blurRad="101600" dist="38100" dir="5400000">
              <a:srgbClr val="15202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34072" y="2240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$300M+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434072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TRAVISMATHEW REVENUE, 2022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546336" y="192024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EDACB"/>
            </a:solidFill>
            <a:prstDash val="solid"/>
          </a:ln>
          <a:effectLst>
            <a:outerShdw sx="100000" sy="100000" kx="0" ky="0" algn="bl" rotWithShape="0" blurRad="101600" dist="38100" dir="5400000">
              <a:srgbClr val="15202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83496" y="224028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$685M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83496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APPAREL/GEAR/OTHER NET SALES, FY2025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35–54, middle-to-upper income, with disposable income to spend on premium activewear. TravisMathew undercuts most golf-apparel peers on price, sitting inside Callaway Golf Company's newly streamlined Apparel, Gear &amp; Other segment following the 2025 divestiture of Topgolf and Jack Wolfskin.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performance-first golfer who dresses for the 19th hole too.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E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6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Golf-centered, plus hiking, tennis, and fitness. Wants pieces that move from the course to everyday wear.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760720" cy="0"/>
          </a:xfrm>
          <a:prstGeom prst="line">
            <a:avLst/>
          </a:prstGeom>
          <a:noFill/>
          <a:ln w="9525">
            <a:solidFill>
              <a:srgbClr val="DE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E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6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preference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1729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Athletic-inspired with a contemporary twist — clean lines, modern cuts, sporty function meets casual sophistication.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760720" cy="0"/>
          </a:xfrm>
          <a:prstGeom prst="line">
            <a:avLst/>
          </a:prstGeom>
          <a:noFill/>
          <a:ln w="9525">
            <a:solidFill>
              <a:srgbClr val="DE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EDA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6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023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loyalty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36168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to the brand's reputation for high-quality materials and innovative design.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5760720" cy="0"/>
          </a:xfrm>
          <a:prstGeom prst="line">
            <a:avLst/>
          </a:prstGeom>
          <a:noFill/>
          <a:ln w="9525">
            <a:solidFill>
              <a:srgbClr val="DEDA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257800"/>
            <a:ext cx="365760" cy="365760"/>
          </a:xfrm>
          <a:prstGeom prst="ellipse">
            <a:avLst/>
          </a:prstGeom>
          <a:solidFill>
            <a:srgbClr val="F5F1E8"/>
          </a:solidFill>
          <a:ln w="12700">
            <a:solidFill>
              <a:srgbClr val="DEDA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6E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12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Comfort, functionality, and performance drive the purchase decision as much as style.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6309360"/>
            <a:ext cx="5760720" cy="0"/>
          </a:xfrm>
          <a:prstGeom prst="line">
            <a:avLst/>
          </a:prstGeom>
          <a:noFill/>
          <a:ln w="9525">
            <a:solidFill>
              <a:srgbClr val="DEDA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TRAFFIC ORIGIN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2011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now drives 94.9% of visits to travismathew.com — even more concentrated than before, consistent with the brand's roots in Southern California golf and country-club culture.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3200400"/>
            <a:ext cx="49377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EDAC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949440" y="33832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“Individuals who have the disposable income to invest in premium activewear and leisurewear.”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4983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similarweb.com/website/travismathew.com, 2025.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DEMOGRAPHICS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peaks at 45–54, a decade older than Arc'teryx's core.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Site-visit age distribution — Similarweb, 2025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0789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349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B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has shifted since early 2024: Similarweb now shows 55.97% male / 44.03% female (was 39.49% male / 60.54% female in Feb–Apr 2024) — worth validating directly given the reversal. Source: Similarweb, 2025.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COMPETITIVE 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TravisMathew undercuts most of golf apparel on price.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Polo price positioning vs. revenue scale, golf apparel category, as of 7-2-2024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0789920" cy="36576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377440"/>
                <a:gridCol w="2011680"/>
                <a:gridCol w="20116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Brand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52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Polo price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52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Gender ratio (M/F)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52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Satisfaction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52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Revenue Y2022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520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0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TravisMathew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$89.95–$119.95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62% / 38%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$300M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0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 Millar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$98–$225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57% / 43%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$175M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0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FootJoy (FJ)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$78–$145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72% / 28%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$618M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0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TaylorMade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$110–$188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72% / 28%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$1,100M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0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$96–$98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53% / 47%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$17.6M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E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practical-golf.com (Rhoback review); Richemont FY22 annual report; brand pricing pages.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9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PARENT COMPANY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parent company just changed. Topgolf Callaway Brands is Callaway Golf again.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Callaway Golf Company (NYSE: CALY, formerly MODG) — post-divestiture structure, effective Jan 1,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07899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E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 the company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Jack Wolfskin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 60% stake in Topgolf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(deal closed January 1, 2026), returning to its roots as a pure-play golf equipment and apparel company. It reverted to its original name and ticker: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Callaway Golf Company (NYSE: CALY)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Reporting now collapses from three segments to two: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 Equipment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Apparel, Gear &amp; Other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(“Soft Goods”) — the segment housing TravisMathew, Callaway apparel, and OGIO.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3063240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3063240"/>
            <a:ext cx="53035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EDA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TRAVISMATHEW BRAND, FY2022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3796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$300M+ net sales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37960" y="3886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$50M+ adjusted EBITDA, with continued double-digit growth through 2023.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37960" y="44805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brand's individual FY2025 figure is no longer broken out separately — it now sits inside the smaller, more focused $685M Apparel, Gear &amp; Other line alongside Callaway-branded apparel and OGIO.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5852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8B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Continuing-operations basis (excludes divested Topgolf and Jack Wolfskin). Golf Equipment: $1,382.7M → $1,375.1M (-0.5%). Apparel, Gear &amp; Other: $695.0M → $685.0M (-1.4%). Total: $2,077.7M → $2,060.1M (-0.8%). 2026 guidance: $1.98B–$2.05B. Source: Callaway Golf Company (NYSE: CALY) Q4/FY2025 earnings release, Feb 2026.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BB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Value-priced, performance-first, inside a newly refocused parent.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09728" cy="109728"/>
          </a:xfrm>
          <a:prstGeom prst="ellipse">
            <a:avLst/>
          </a:prstGeom>
          <a:solidFill>
            <a:srgbClr val="D970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ED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TravisMathew buyers are 35–54, middle-to-upper income — Similarweb now shows a 56% male / 44% female traffic split, a reversal from the 39%/61% split recorded in early 2024 worth validating directly.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09728" cy="109728"/>
          </a:xfrm>
          <a:prstGeom prst="ellipse">
            <a:avLst/>
          </a:prstGeom>
          <a:solidFill>
            <a:srgbClr val="D9704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17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ED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$89.95–$119.95 per polo, TravisMathew undercuts Peter Millar, FootJoy, and TaylorMade while matching them on customer satisfaction.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09728" cy="109728"/>
          </a:xfrm>
          <a:prstGeom prst="ellipse">
            <a:avLst/>
          </a:prstGeom>
          <a:solidFill>
            <a:srgbClr val="D970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233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ED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company Callaway Golf Company (NYSE: CALY, formerly Topgolf Callaway Brands) sold Jack Wolfskin and a 60% Topgolf stake in the 2025–2026 transition, returning to a pure-play golf equipment and apparel structure — TravisMathew now sits inside a smaller, more focused $685M Apparel, Gear &amp; Other segment.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577840"/>
            <a:ext cx="11064240" cy="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ED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NYTG — MARKET INTEL / FOR INTERNAL PITCH PREP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D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SIMILARWEB 2025 · CALLAWAY GOLF (CALY) SEC FILINGS · PRACTICAL-GOLF.COM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2026-08-25T08:27:34Z</dcterms:created>
  <dcterms:modified xsi:type="dcterms:W3CDTF">2026-08-25T08:27:34Z</dcterms:modified>
</cp:coreProperties>
</file>