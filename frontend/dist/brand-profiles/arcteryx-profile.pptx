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visits</c:v>
                </c:pt>
              </c:strCache>
            </c:strRef>
          </c:tx>
          <c:spPr>
            <a:solidFill>
              <a:srgbClr val="3E6B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4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United States</c:v>
                  </c:pt>
                  <c:pt idx="1">
                    <c:v>Canada</c:v>
                  </c:pt>
                  <c:pt idx="2">
                    <c:v>China</c:v>
                  </c:pt>
                  <c:pt idx="3">
                    <c:v>United Kingdom</c:v>
                  </c:pt>
                  <c:pt idx="4">
                    <c:v>France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44.7</c:v>
                </c:pt>
                <c:pt idx="1">
                  <c:v>19.9</c:v>
                </c:pt>
                <c:pt idx="2">
                  <c:v>6</c:v>
                </c:pt>
                <c:pt idx="3">
                  <c:v>5.8</c:v>
                </c:pt>
                <c:pt idx="4">
                  <c:v>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4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4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visits</c:v>
                </c:pt>
              </c:strCache>
            </c:strRef>
          </c:tx>
          <c:spPr>
            <a:solidFill>
              <a:srgbClr val="3E6B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4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57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6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6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6B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6B8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37</c:v>
                </c:pt>
                <c:pt idx="2">
                  <c:v>17</c:v>
                </c:pt>
                <c:pt idx="3">
                  <c:v>15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14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4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Technical Apparel</c:v>
                </c:pt>
              </c:strCache>
            </c:strRef>
          </c:tx>
          <c:spPr>
            <a:solidFill>
              <a:srgbClr val="9AD4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685</c:v>
                </c:pt>
                <c:pt idx="1">
                  <c:v>951</c:v>
                </c:pt>
                <c:pt idx="2">
                  <c:v>1096</c:v>
                </c:pt>
                <c:pt idx="3">
                  <c:v>1593</c:v>
                </c:pt>
                <c:pt idx="4">
                  <c:v>2194</c:v>
                </c:pt>
                <c:pt idx="5">
                  <c:v>2856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Outdoor Performance</c:v>
                </c:pt>
              </c:strCache>
            </c:strRef>
          </c:tx>
          <c:spPr>
            <a:solidFill>
              <a:srgbClr val="3E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1092</c:v>
                </c:pt>
                <c:pt idx="1">
                  <c:v>1236</c:v>
                </c:pt>
                <c:pt idx="2">
                  <c:v>1417</c:v>
                </c:pt>
                <c:pt idx="3">
                  <c:v>1668</c:v>
                </c:pt>
                <c:pt idx="4">
                  <c:v>1836</c:v>
                </c:pt>
                <c:pt idx="5">
                  <c:v>2404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Ball &amp; Racquet</c:v>
                </c:pt>
              </c:strCache>
            </c:strRef>
          </c:tx>
          <c:spPr>
            <a:solidFill>
              <a:srgbClr val="0B14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669</c:v>
                </c:pt>
                <c:pt idx="1">
                  <c:v>880</c:v>
                </c:pt>
                <c:pt idx="2">
                  <c:v>1037</c:v>
                </c:pt>
                <c:pt idx="3">
                  <c:v>1108</c:v>
                </c:pt>
                <c:pt idx="4">
                  <c:v>1153</c:v>
                </c:pt>
                <c:pt idx="5">
                  <c:v>1307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4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B929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B9296"/>
                    </a:solidFill>
                    <a:latin typeface="Arial"/>
                  </a:rPr>
                  <a:t>Net revenue, $M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141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BRIEF — 01 / OUTDOOR TECHNICAL APPAREL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/ MARKET 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shows up on the 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7FA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Arc'teryx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trailhead.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on the customer base, competitive set, and category economics behind Arc'teryx — built for pitch prep across the NYTG fabric portfolio.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3931920"/>
            <a:ext cx="365760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A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5528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E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VISITORS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5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78408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E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VISITORS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SIMILARWEB,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5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category, in five numbers.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41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AGE RANGE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98064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41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35224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TRAFFIC MARKET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47488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41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4648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$80–110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84648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T-SHIRT PRICE BAND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96912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41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34072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$760.6M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34072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ARC'TERYX REVENUE, Y2022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46336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41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83496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$6.57B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83496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 SPORTS REVENUE, FY2025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25–45, middle-to-upper income, prioritizing performance over trend — a premium-priced, functionality-first buyer sitting inside a parent company (Amer Sports) that nearly tripled revenue since 2020.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5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adventurous, functionality-first buyer.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8DE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Hiking, climbing, skiing, snowboarding, mountaineering — gear expected to hold up in rugged conditions.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760720" cy="0"/>
          </a:xfrm>
          <a:prstGeom prst="line">
            <a:avLst/>
          </a:prstGeom>
          <a:noFill/>
          <a:ln w="9525">
            <a:solidFill>
              <a:srgbClr val="D8DE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8DE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preference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72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and performance first, but the clean, minimalist, technical aesthetic still matters.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760720" cy="0"/>
          </a:xfrm>
          <a:prstGeom prst="line">
            <a:avLst/>
          </a:prstGeom>
          <a:noFill/>
          <a:ln w="9525">
            <a:solidFill>
              <a:srgbClr val="D8DE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8DE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loyalty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3616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repeat trust in quality and innovation across successive outdoor adventures.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5760720" cy="0"/>
          </a:xfrm>
          <a:prstGeom prst="line">
            <a:avLst/>
          </a:prstGeom>
          <a:noFill/>
          <a:ln w="9525">
            <a:solidFill>
              <a:srgbClr val="D8DE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F3F6F5"/>
          </a:solidFill>
          <a:ln w="12700">
            <a:solidFill>
              <a:srgbClr val="D8DE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Sustainability, durability, and ethical manufacturing weigh into the purchase decision.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5760720" cy="0"/>
          </a:xfrm>
          <a:prstGeom prst="line">
            <a:avLst/>
          </a:prstGeom>
          <a:noFill/>
          <a:ln w="9525">
            <a:solidFill>
              <a:srgbClr val="D8DE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TRAFFIC ORIGIN — % OF TOTAL VISITS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675120" y="192024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67512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Similarweb, 2025.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5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DEMOGRAPHICS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still peaks at 25–34.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distribution, arcteryx.com — Similarweb, 2025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0789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B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Similarweb's public view confirms 25–34 as the leading age bracket for arcteryx.com but doesn't publish exact per-bracket shares. Bars above carry over the prior VVIC-sourced distribution as a directional estimate — treat the 25–34 lead as confirmed and the rest as illustrative, not exact.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5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COMPETITIVE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Arc'teryx sits in premium price, mid-pack satisfaction.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T-shirt price positioning vs. revenue scale, outdoor wear category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78992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377440"/>
                <a:gridCol w="2011680"/>
                <a:gridCol w="20116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2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2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T-shirt price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2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Gender ratio (M/F)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2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Satisfaction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2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Revenue Y2022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B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Arc'teryx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$80–$110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59% / 41%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5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$760.6M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Columbia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$28–$50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 / 58%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5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$3,400M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North 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$30–$45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53% / 47%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5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$11,600M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Moncler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$345–$440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53% / 47%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5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$2,200M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$55–$89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51% / 49%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5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$1,700M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thingtesting.com/brands/arcteryx/reviews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5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PARENT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 Sports revenue nearly tripled since 2020.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Apparel — the segment housing Arc'teryx — led the mix shift, 2020–2025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0789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8B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net revenue, USD. 2020–2023 from Amer Sports FY2023 annual report; 2024–2025 from Q4/FY earnings releases (Feb 2025 &amp; Feb 2026). Technical Apparel's share of the mix grew from 28.0% (2020) to 43.5% (2025) — the segment's 5-year CAGR runs well ahead of the other two.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Premium, performance-first, and scaling fast.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09728" cy="109728"/>
          </a:xfrm>
          <a:prstGeom prst="ellipse">
            <a:avLst/>
          </a:prstGeom>
          <a:solidFill>
            <a:srgbClr val="E257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Arc'teryx buyers are 25–45, middle-to-upper income, and pay a premium ($80–110 t-shirts) for function-first, technical apparel.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E257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sits mid-pack on satisfaction versus Columbia, The North Face, and Patagonia — room to differentiate on fabric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109728" cy="109728"/>
          </a:xfrm>
          <a:prstGeom prst="ellipse">
            <a:avLst/>
          </a:prstGeom>
          <a:solidFill>
            <a:srgbClr val="E257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319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company Amer Sports nearly tripled revenue since 2020, with Technical Apparel (Arc'teryx's segment) growing fastest — 28.0% to 43.5% of the mix.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E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DE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SIMILARWEB 2025 · AMER SPORTS SEC FILINGS · THINGTESTING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2026-08-25T06:23:11Z</dcterms:created>
  <dcterms:modified xsi:type="dcterms:W3CDTF">2026-08-25T06:23:11Z</dcterms:modified>
</cp:coreProperties>
</file>